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3239928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>
        <p:scale>
          <a:sx n="25" d="100"/>
          <a:sy n="25" d="100"/>
        </p:scale>
        <p:origin x="2226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4571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07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>
                    <a:tint val="82000"/>
                  </a:schemeClr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82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82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024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4167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67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432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27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8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79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728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45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1652C-FA45-40A6-9A10-3C463D436116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53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B26FF5E-B927-F5CF-8CD1-4ED38B0B57AB}"/>
              </a:ext>
            </a:extLst>
          </p:cNvPr>
          <p:cNvSpPr/>
          <p:nvPr/>
        </p:nvSpPr>
        <p:spPr>
          <a:xfrm>
            <a:off x="8120063" y="847656"/>
            <a:ext cx="23327520" cy="6924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Imagem 4" descr="Texto, Logotipo&#10;&#10;Descrição gerada automaticamente">
            <a:extLst>
              <a:ext uri="{FF2B5EF4-FFF2-40B4-BE49-F238E27FC236}">
                <a16:creationId xmlns:a16="http://schemas.microsoft.com/office/drawing/2014/main" id="{2FE1DEB6-F4C6-1413-B43D-2C2AADC5D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600860" cy="8683405"/>
          </a:xfrm>
          <a:prstGeom prst="rect">
            <a:avLst/>
          </a:prstGeom>
        </p:spPr>
      </p:pic>
      <p:sp>
        <p:nvSpPr>
          <p:cNvPr id="22" name="Text Box 2">
            <a:extLst>
              <a:ext uri="{FF2B5EF4-FFF2-40B4-BE49-F238E27FC236}">
                <a16:creationId xmlns:a16="http://schemas.microsoft.com/office/drawing/2014/main" id="{C20853C3-706B-73E8-8D62-31758612E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2738" y="266010"/>
            <a:ext cx="23514845" cy="8609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ts val="2625"/>
              </a:spcBef>
              <a:buClrTx/>
              <a:buFontTx/>
              <a:buNone/>
            </a:pPr>
            <a:endParaRPr lang="pt-BR" altLang="pt-BR" sz="4200" b="1" dirty="0"/>
          </a:p>
          <a:p>
            <a:pPr algn="ctr">
              <a:spcBef>
                <a:spcPts val="2625"/>
              </a:spcBef>
              <a:buClrTx/>
              <a:buFontTx/>
              <a:buNone/>
            </a:pPr>
            <a:r>
              <a:rPr lang="pt-BR" altLang="pt-BR" sz="4200" b="1" dirty="0">
                <a:solidFill>
                  <a:schemeClr val="bg1"/>
                </a:solidFill>
              </a:rPr>
              <a:t>PROJETO DE EXTENSÃO - </a:t>
            </a:r>
            <a:r>
              <a:rPr lang="pt-BR" sz="4400" b="1" dirty="0">
                <a:solidFill>
                  <a:schemeClr val="bg1"/>
                </a:solidFill>
              </a:rPr>
              <a:t>SISTEMA DE CONTROLE DE EMPRÉSTIMOS</a:t>
            </a:r>
            <a:endParaRPr lang="pt-BR" altLang="pt-BR" sz="4200" b="1" dirty="0">
              <a:solidFill>
                <a:schemeClr val="bg1"/>
              </a:solidFill>
            </a:endParaRPr>
          </a:p>
          <a:p>
            <a:pPr algn="ctr">
              <a:spcBef>
                <a:spcPts val="2625"/>
              </a:spcBef>
              <a:buClrTx/>
              <a:buFontTx/>
              <a:buNone/>
            </a:pPr>
            <a:r>
              <a:rPr lang="pt-BR" altLang="pt-BR" sz="4200" b="1" dirty="0">
                <a:solidFill>
                  <a:schemeClr val="bg1"/>
                </a:solidFill>
              </a:rPr>
              <a:t>Bruno Rodrigues Fonseca – 3024102442 – Bacharelado em Ciências da Computação</a:t>
            </a:r>
          </a:p>
          <a:p>
            <a:pPr algn="ctr">
              <a:spcBef>
                <a:spcPts val="2625"/>
              </a:spcBef>
            </a:pPr>
            <a:r>
              <a:rPr lang="pt-BR" altLang="pt-BR" sz="4200" b="1" dirty="0">
                <a:solidFill>
                  <a:schemeClr val="bg1"/>
                </a:solidFill>
              </a:rPr>
              <a:t>Beatriz </a:t>
            </a:r>
            <a:r>
              <a:rPr lang="pt-BR" altLang="pt-BR" sz="4200" b="1" dirty="0" err="1">
                <a:solidFill>
                  <a:schemeClr val="bg1"/>
                </a:solidFill>
              </a:rPr>
              <a:t>Moscareli</a:t>
            </a:r>
            <a:r>
              <a:rPr lang="pt-BR" altLang="pt-BR" sz="4200" b="1" dirty="0">
                <a:solidFill>
                  <a:schemeClr val="bg1"/>
                </a:solidFill>
              </a:rPr>
              <a:t>– 925110885 – Bacharelado em Ciências da Computação</a:t>
            </a:r>
          </a:p>
          <a:p>
            <a:pPr algn="ctr">
              <a:spcBef>
                <a:spcPts val="2625"/>
              </a:spcBef>
            </a:pPr>
            <a:r>
              <a:rPr lang="pt-BR" altLang="pt-BR" sz="4200" b="1" dirty="0">
                <a:solidFill>
                  <a:schemeClr val="bg1"/>
                </a:solidFill>
              </a:rPr>
              <a:t>Henrique de Souza Silva– 3022202322 – Bacharelado em Ciências da Computação</a:t>
            </a:r>
          </a:p>
          <a:p>
            <a:pPr algn="ctr">
              <a:spcBef>
                <a:spcPts val="2625"/>
              </a:spcBef>
            </a:pPr>
            <a:r>
              <a:rPr lang="pt-BR" altLang="pt-BR" sz="4200" b="1" dirty="0">
                <a:solidFill>
                  <a:schemeClr val="bg1"/>
                </a:solidFill>
              </a:rPr>
              <a:t>João Vitor Martins dos Santos – 3023104100 – Bacharelado em Ciências da Computação</a:t>
            </a:r>
          </a:p>
          <a:p>
            <a:pPr algn="ctr">
              <a:spcBef>
                <a:spcPts val="2625"/>
              </a:spcBef>
            </a:pPr>
            <a:r>
              <a:rPr lang="pt-BR" altLang="pt-BR" sz="4200" b="1" dirty="0">
                <a:solidFill>
                  <a:schemeClr val="bg1"/>
                </a:solidFill>
              </a:rPr>
              <a:t>Rodrigo </a:t>
            </a:r>
            <a:r>
              <a:rPr lang="pt-BR" altLang="pt-BR" sz="4200" b="1" dirty="0" err="1">
                <a:solidFill>
                  <a:schemeClr val="bg1"/>
                </a:solidFill>
              </a:rPr>
              <a:t>Àllvez</a:t>
            </a:r>
            <a:r>
              <a:rPr lang="pt-BR" altLang="pt-BR" sz="4200" b="1" dirty="0">
                <a:solidFill>
                  <a:schemeClr val="bg1"/>
                </a:solidFill>
              </a:rPr>
              <a:t> dos Santos – 3023104930 – Bacharelado em Ciências da Computação</a:t>
            </a:r>
          </a:p>
          <a:p>
            <a:pPr algn="ctr">
              <a:spcBef>
                <a:spcPts val="2625"/>
              </a:spcBef>
              <a:buClrTx/>
              <a:buFontTx/>
              <a:buNone/>
            </a:pPr>
            <a:endParaRPr lang="pt-BR" altLang="pt-BR" sz="4200" b="1" dirty="0">
              <a:solidFill>
                <a:schemeClr val="bg1"/>
              </a:solidFill>
            </a:endParaRPr>
          </a:p>
          <a:p>
            <a:pPr algn="ctr">
              <a:spcBef>
                <a:spcPts val="2625"/>
              </a:spcBef>
              <a:buClrTx/>
              <a:buFontTx/>
              <a:buNone/>
            </a:pPr>
            <a:endParaRPr lang="pt-BR" altLang="pt-BR" sz="4200" b="1" dirty="0"/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04EA8491-46E9-CEFD-AF4C-F952C9AAB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4182" y="42192969"/>
            <a:ext cx="270637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3200" baseline="30000" dirty="0">
                <a:latin typeface="Garamond" panose="02020404030301010803" pitchFamily="18" charset="0"/>
                <a:cs typeface="Times New Roman" panose="02020603050405020304" pitchFamily="18" charset="0"/>
              </a:rPr>
              <a:t>1 SÃO PAULO/2026</a:t>
            </a:r>
            <a:endParaRPr lang="pt-BR" altLang="pt-BR" sz="3200" dirty="0"/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F6A21990-4946-7179-FE27-68E8666CD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0617" y="21384992"/>
            <a:ext cx="13841413" cy="12282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DIAGNÓSTICO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r>
              <a:rPr lang="pt-BR" sz="4400" dirty="0"/>
              <a:t>No cenário proposto, o gerenciamento da biblioteca escolar é realizado de forma manual, utilizando planilhas e registros físicos para o controle do acervo e dos empréstimos. Esse modelo apresenta limitações que impactam a organização das informações e a eficiência dos processos administrativos.</a:t>
            </a:r>
          </a:p>
          <a:p>
            <a:r>
              <a:rPr lang="pt-BR" sz="4400" dirty="0"/>
              <a:t>Entre os principais problemas identificados estão a possibilidade de inconsistências de dados, dificuldades na consulta de livros disponíveis, limitações no controle de empréstimos e devoluções e ausência de um acompanhamento eficiente de atrasos.</a:t>
            </a:r>
          </a:p>
          <a:p>
            <a:r>
              <a:rPr lang="pt-BR" sz="4400" dirty="0"/>
              <a:t>Diante desse contexto, identificou-se a necessidade de uma solução tecnológica capaz de centralizar informações, otimizar processos e proporcionar maior controle administrativo da biblioteca escolar.</a:t>
            </a:r>
          </a:p>
        </p:txBody>
      </p:sp>
      <p:sp>
        <p:nvSpPr>
          <p:cNvPr id="33" name="Text Box 13">
            <a:extLst>
              <a:ext uri="{FF2B5EF4-FFF2-40B4-BE49-F238E27FC236}">
                <a16:creationId xmlns:a16="http://schemas.microsoft.com/office/drawing/2014/main" id="{820D7143-8B20-110C-784D-0CEDE24B9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0616" y="8989101"/>
            <a:ext cx="13841413" cy="12282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OBJETIVO DO PROJETO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r>
              <a:rPr lang="pt-BR" sz="4400" dirty="0"/>
              <a:t>O presente projeto tem como objetivo desenvolver um sistema web para automatizar o gerenciamento de uma biblioteca escolar, promovendo maior organização, centralização e controle das informações relacionadas ao acervo e aos processos administrativos da instituição. A proposta busca substituir métodos manuais de registro por uma solução informatizada capaz de gerenciar alunos, responsáveis, livros, exemplares, empréstimos e multas de forma integrada.</a:t>
            </a:r>
          </a:p>
          <a:p>
            <a:r>
              <a:rPr lang="pt-BR" sz="4400" dirty="0"/>
              <a:t>Além da digitalização dos processos, o sistema visa reduzir falhas operacionais, facilitar a consulta de informações, melhorar o acompanhamento da disponibilidade dos exemplares e proporcionar maior praticidade durante as atividades administrativas da biblioteca.</a:t>
            </a:r>
            <a:endParaRPr lang="pt-BR" altLang="pt-BR" sz="4400" dirty="0">
              <a:latin typeface="Times New Roman" panose="02020603050405020304" pitchFamily="18" charset="0"/>
            </a:endParaRPr>
          </a:p>
        </p:txBody>
      </p:sp>
      <p:sp>
        <p:nvSpPr>
          <p:cNvPr id="34" name="Text Box 14">
            <a:extLst>
              <a:ext uri="{FF2B5EF4-FFF2-40B4-BE49-F238E27FC236}">
                <a16:creationId xmlns:a16="http://schemas.microsoft.com/office/drawing/2014/main" id="{F72B0911-45F1-7BD9-431D-EC409F4A1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619" y="33973154"/>
            <a:ext cx="13841413" cy="8219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PROPOSTA DE MELHORIA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r>
              <a:rPr lang="pt-BR" sz="4400" dirty="0"/>
              <a:t>A solução proposta consiste no desenvolvimento de um sistema web administrativo utilizando Java, Spring Boot, Spring Data JPA, </a:t>
            </a:r>
            <a:r>
              <a:rPr lang="pt-BR" sz="4400" dirty="0" err="1"/>
              <a:t>Thymeleaf</a:t>
            </a:r>
            <a:r>
              <a:rPr lang="pt-BR" sz="4400" dirty="0"/>
              <a:t> e MySQL, com o objetivo de digitalizar e automatizar os processos da biblioteca escolar. O sistema permitirá o gerenciamento de alunos, responsáveis, livros, exemplares, empréstimos e multas, além da aplicação de validações de dados, controle de disponibilidade dos exemplares e organização das informações em uma interface intuitiva com navegação simplificada.</a:t>
            </a:r>
            <a:endParaRPr lang="pt-BR" altLang="pt-BR" sz="4400" dirty="0"/>
          </a:p>
        </p:txBody>
      </p:sp>
      <p:sp>
        <p:nvSpPr>
          <p:cNvPr id="35" name="Text Box 15">
            <a:extLst>
              <a:ext uri="{FF2B5EF4-FFF2-40B4-BE49-F238E27FC236}">
                <a16:creationId xmlns:a16="http://schemas.microsoft.com/office/drawing/2014/main" id="{3DC74583-4B44-E2DB-1FE7-E18271D3D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1663" y="8245109"/>
            <a:ext cx="13841412" cy="8219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COMUNIDADE IMPACTADA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r>
              <a:rPr lang="pt-BR" sz="4400" dirty="0"/>
              <a:t>Embora desenvolvido em um contexto acadêmico e aplicado a uma instituição fictícia, o projeto foi estruturado com base em necessidades próximas às encontradas em bibliotecas escolares reais. A solução pode beneficiar bibliotecários, gestores escolares, professores e estudantes, proporcionando maior organização do acervo, redução de falhas operacionais, melhoria no controle administrativo e maior eficiência no gerenciamento dos empréstimos de livros.</a:t>
            </a:r>
          </a:p>
        </p:txBody>
      </p:sp>
      <p:sp>
        <p:nvSpPr>
          <p:cNvPr id="36" name="Text Box 16">
            <a:extLst>
              <a:ext uri="{FF2B5EF4-FFF2-40B4-BE49-F238E27FC236}">
                <a16:creationId xmlns:a16="http://schemas.microsoft.com/office/drawing/2014/main" id="{0041BD10-DD09-1296-7BBF-3B5622008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48944" y="20179871"/>
            <a:ext cx="13841413" cy="7542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RELATÓRIOS FINAL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r>
              <a:rPr lang="pt-BR" sz="4400" dirty="0"/>
              <a:t>O desenvolvimento do projeto possibilitou a aplicação prática de conhecimentos relacionados à engenharia de software, modelagem de sistemas, banco de dados, programação orientada a objetos e desenvolvimento web. Como resultado, foi desenvolvida uma solução acadêmica estruturada, modular e preparada para futuras expansões, demonstrando a importância da informatização de processos administrativos no ambiente educacional.</a:t>
            </a:r>
          </a:p>
        </p:txBody>
      </p:sp>
    </p:spTree>
    <p:extLst>
      <p:ext uri="{BB962C8B-B14F-4D97-AF65-F5344CB8AC3E}">
        <p14:creationId xmlns:p14="http://schemas.microsoft.com/office/powerpoint/2010/main" val="6626370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</TotalTime>
  <Words>506</Words>
  <Application>Microsoft Office PowerPoint</Application>
  <PresentationFormat>Personalizar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Garamond</vt:lpstr>
      <vt:lpstr>Times New Roman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Adriano Miranda Vasconcellos de Jesus</dc:creator>
  <cp:lastModifiedBy>Bruno Rodrigues Fonseca</cp:lastModifiedBy>
  <cp:revision>9</cp:revision>
  <dcterms:created xsi:type="dcterms:W3CDTF">2024-08-21T12:22:29Z</dcterms:created>
  <dcterms:modified xsi:type="dcterms:W3CDTF">2026-05-25T22:15:11Z</dcterms:modified>
</cp:coreProperties>
</file>